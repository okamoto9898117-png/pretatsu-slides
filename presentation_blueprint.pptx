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253D5E"/>
          </a:solidFill>
          <a:ln w="12700">
            <a:solidFill>
              <a:srgbClr val="253D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1828800" cy="1828800"/>
          </a:xfrm>
          <a:prstGeom prst="ellipse">
            <a:avLst/>
          </a:prstGeom>
          <a:solidFill>
            <a:srgbClr val="D4AF37">
              <a:alpha val="20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D4AF37"/>
                </a:solidFill>
              </a:rPr>
              <a:t>BUSINESS PROPOSAL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[会社名・サービス名]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課題解決から成果創出まで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貴社の成長を共に実現します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794760"/>
            <a:ext cx="2286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20XX年XX月XX日　　[会社名]　　[担当者名]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D4AF37"/>
                </a:solidFill>
              </a:rPr>
              <a:t>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3840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あなたが直面している課題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BB0"/>
                </a:solidFill>
              </a:rPr>
              <a:t>多くの企業が抱える共通の課題——あなたの組織にも当てはまりませんか？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7432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745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423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課題①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[タイトルを記入]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324612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0"/>
                </a:solidFill>
              </a:rPr>
              <a:t>具体的な課題の説明を記入してください。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A9BB0"/>
                </a:solidFill>
              </a:rPr>
              <a:t>数字や事実を交えると効果的です。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169164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691640"/>
            <a:ext cx="27432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8745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2423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課題②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[タイトルを記入]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37560" y="324612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0"/>
                </a:solidFill>
              </a:rPr>
              <a:t>具体的な課題の説明を記入してください。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A9BB0"/>
                </a:solidFill>
              </a:rPr>
              <a:t>数字や事実を交えると効果的です。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72200" y="169164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1691640"/>
            <a:ext cx="27432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2423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課題③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[タイトルを記入]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63640" y="324612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0"/>
                </a:solidFill>
              </a:rPr>
              <a:t>具体的な課題の説明を記入してください。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A9BB0"/>
                </a:solidFill>
              </a:rPr>
              <a:t>数字や事実を交えると効果的です。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D4AF37"/>
                </a:solidFill>
              </a:rPr>
              <a:t>MARKET OPPORTUNITY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3840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市場機会の全体像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BB0"/>
                </a:solidFill>
              </a:rPr>
              <a:t>この市場には大きな成長ポテンシャルがあります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2606040" cy="2560320"/>
          </a:xfrm>
          <a:prstGeom prst="rect">
            <a:avLst/>
          </a:prstGeom>
          <a:solidFill>
            <a:srgbClr val="253D5E"/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91640"/>
            <a:ext cx="260604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(全体市場規模)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¥X兆円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22960" y="3291840"/>
            <a:ext cx="1691640" cy="27432"/>
          </a:xfrm>
          <a:prstGeom prst="rect">
            <a:avLst/>
          </a:prstGeom>
          <a:solidFill>
            <a:srgbClr val="D4AF37">
              <a:alpha val="40000"/>
            </a:srgbClr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29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国内対象市場の総規模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691640"/>
            <a:ext cx="2606040" cy="2560320"/>
          </a:xfrm>
          <a:prstGeom prst="rect">
            <a:avLst/>
          </a:prstGeom>
          <a:solidFill>
            <a:srgbClr val="253D5E"/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691640"/>
            <a:ext cx="260604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810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(獲得可能市場)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24231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¥X,XXX億円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3657600" y="3291840"/>
            <a:ext cx="1691640" cy="27432"/>
          </a:xfrm>
          <a:prstGeom prst="rect">
            <a:avLst/>
          </a:prstGeom>
          <a:solidFill>
            <a:srgbClr val="D4AF37">
              <a:alpha val="40000"/>
            </a:srgbClr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429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当社がターゲットとする市場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1691640"/>
            <a:ext cx="2606040" cy="2560320"/>
          </a:xfrm>
          <a:prstGeom prst="rect">
            <a:avLst/>
          </a:prstGeom>
          <a:solidFill>
            <a:srgbClr val="253D5E"/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691640"/>
            <a:ext cx="260604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810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(実現可能市場)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24231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¥XXX億円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492240" y="3291840"/>
            <a:ext cx="1691640" cy="27432"/>
          </a:xfrm>
          <a:prstGeom prst="rect">
            <a:avLst/>
          </a:prstGeom>
          <a:solidFill>
            <a:srgbClr val="D4AF37">
              <a:alpha val="40000"/>
            </a:srgbClr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429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3ヶ年で獲得目標とする市場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434840"/>
            <a:ext cx="54864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4622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市場は年率XX%で成長中。今こそ参入の最適なタイミングです。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D4AF37"/>
                </a:solidFill>
              </a:rPr>
              <a:t>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3840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私たちのソリューション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BB0"/>
                </a:solidFill>
              </a:rPr>
              <a:t>3つの核心的な強みで、貴社の課題を根本から解決します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43000" y="1828800"/>
            <a:ext cx="1097280" cy="1097280"/>
          </a:xfrm>
          <a:prstGeom prst="ellipse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011680"/>
            <a:ext cx="731520" cy="7315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103120" y="1719072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0312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" y="3017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強み①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[キャッチコピー]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3840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ソリューションの具体的な説明を記入してください。競合との差別化ポイントを明確に。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46120" y="169164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069080" y="1828800"/>
            <a:ext cx="1097280" cy="1097280"/>
          </a:xfrm>
          <a:prstGeom prst="ellipse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011680"/>
            <a:ext cx="731520" cy="7315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029200" y="1719072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337560" y="3017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強み②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[キャッチコピー]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337560" y="3840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ソリューションの具体的な説明を記入してください。顧客にとっての価値を中心に。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172200" y="169164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995160" y="1828800"/>
            <a:ext cx="1097280" cy="1097280"/>
          </a:xfrm>
          <a:prstGeom prst="ellipse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011680"/>
            <a:ext cx="731520" cy="73152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955280" y="1719072"/>
            <a:ext cx="292608" cy="292608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95528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3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263640" y="3017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強み③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[キャッチコピー]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263640" y="3840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ソリューションの具体的な説明を記入してください。実績や数字を加えると説得力UP。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D4AF37"/>
                </a:solidFill>
              </a:rPr>
              <a:t>VALUE PROPOSITION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3840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導入前後の変化——価値提案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3749040" cy="3749040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3749040" cy="50292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7043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BEFORE　導入前の状態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</a:rPr>
              <a:t>❌ 課題①が解決されていない状態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13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</a:rPr>
              <a:t>❌ 非効率なプロセスが継続中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8437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</a:rPr>
              <a:t>❌ コストが高く利益率が低い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37413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</a:rPr>
              <a:t>❌ データ活用ができていない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9044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</a:rPr>
              <a:t>❌ 競合に後れを取っている状態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2560320"/>
            <a:ext cx="731520" cy="7315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120640" y="1143000"/>
            <a:ext cx="3749040" cy="3749040"/>
          </a:xfrm>
          <a:prstGeom prst="rect">
            <a:avLst/>
          </a:prstGeom>
          <a:solidFill>
            <a:srgbClr val="F4F6F9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20640" y="1143000"/>
            <a:ext cx="3749040" cy="5029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66360" y="117043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AFTER　導入後の変化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12080" y="1783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</a:rPr>
              <a:t>✅ 課題①が根本から解決される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212080" y="23134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</a:rPr>
              <a:t>✅ 業務効率がXX%向上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212080" y="28437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</a:rPr>
              <a:t>✅ コスト削減・利益率改善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212080" y="33741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</a:rPr>
              <a:t>✅ データドリブンな意思決定が可能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212080" y="39044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E4B"/>
                </a:solidFill>
              </a:rPr>
              <a:t>✅ 競合優位性を確立できる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D4AF37"/>
                </a:solidFill>
              </a:rPr>
              <a:t>TRACK RECORD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3840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数字が語る実績と信頼性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9BB0"/>
                </a:solidFill>
              </a:rPr>
              <a:t>実績は作られるものではなく、積み重ねるものです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1920240" cy="2377440"/>
          </a:xfrm>
          <a:prstGeom prst="rect">
            <a:avLst/>
          </a:prstGeom>
          <a:solidFill>
            <a:srgbClr val="253D5E"/>
          </a:solidFill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00200"/>
            <a:ext cx="192024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F37"/>
                </a:solidFill>
              </a:rPr>
              <a:t>XXX+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1188720" cy="36576"/>
          </a:xfrm>
          <a:prstGeom prst="rect">
            <a:avLst/>
          </a:prstGeom>
          <a:solidFill>
            <a:srgbClr val="D4AF37">
              <a:alpha val="40000"/>
            </a:srgbClr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導入企業数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累計クライアント数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600200"/>
            <a:ext cx="1920240" cy="2377440"/>
          </a:xfrm>
          <a:prstGeom prst="rect">
            <a:avLst/>
          </a:prstGeom>
          <a:solidFill>
            <a:srgbClr val="253D5E"/>
          </a:solidFill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1600200"/>
            <a:ext cx="192024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F37"/>
                </a:solidFill>
              </a:rPr>
              <a:t>XX%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2834640" y="2743200"/>
            <a:ext cx="1188720" cy="36576"/>
          </a:xfrm>
          <a:prstGeom prst="rect">
            <a:avLst/>
          </a:prstGeom>
          <a:solidFill>
            <a:srgbClr val="D4AF37">
              <a:alpha val="40000"/>
            </a:srgbClr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顧客満足度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1460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NPS / 継続率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600200"/>
            <a:ext cx="1920240" cy="2377440"/>
          </a:xfrm>
          <a:prstGeom prst="rect">
            <a:avLst/>
          </a:prstGeom>
          <a:solidFill>
            <a:srgbClr val="253D5E"/>
          </a:solidFill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600200"/>
            <a:ext cx="192024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F37"/>
                </a:solidFill>
              </a:rPr>
              <a:t>XXX%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5029200" y="2743200"/>
            <a:ext cx="1188720" cy="36576"/>
          </a:xfrm>
          <a:prstGeom prst="rect">
            <a:avLst/>
          </a:prstGeom>
          <a:solidFill>
            <a:srgbClr val="D4AF37">
              <a:alpha val="40000"/>
            </a:srgbClr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売上成長率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前年比成長率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0" y="1600200"/>
            <a:ext cx="1920240" cy="2377440"/>
          </a:xfrm>
          <a:prstGeom prst="rect">
            <a:avLst/>
          </a:prstGeom>
          <a:solidFill>
            <a:srgbClr val="253D5E"/>
          </a:solidFill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1600200"/>
            <a:ext cx="192024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1783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F37"/>
                </a:solidFill>
              </a:rPr>
              <a:t>¥XX億</a:t>
            </a:r>
            <a:endParaRPr lang="en-US" sz="3400" dirty="0"/>
          </a:p>
        </p:txBody>
      </p:sp>
      <p:sp>
        <p:nvSpPr>
          <p:cNvPr id="28" name="Shape 26"/>
          <p:cNvSpPr/>
          <p:nvPr/>
        </p:nvSpPr>
        <p:spPr>
          <a:xfrm>
            <a:off x="7223760" y="2743200"/>
            <a:ext cx="1188720" cy="36576"/>
          </a:xfrm>
          <a:prstGeom prst="rect">
            <a:avLst/>
          </a:prstGeom>
          <a:solidFill>
            <a:srgbClr val="D4AF37">
              <a:alpha val="40000"/>
            </a:srgbClr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創出した価値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0372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クライアント合計削減額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BB0"/>
                </a:solidFill>
              </a:rPr>
              <a:t>【導入企業ロゴ / クライアント名を配置】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D4AF37"/>
                </a:solidFill>
              </a:rPr>
              <a:t>PROCESS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3840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導入ロードマップ——シンプルな3ステップ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BB0"/>
                </a:solidFill>
              </a:rPr>
              <a:t>最短でX日から開始。スムーズな導入をサポートします。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63040" y="2606040"/>
            <a:ext cx="6217920" cy="54864"/>
          </a:xfrm>
          <a:prstGeom prst="rect">
            <a:avLst/>
          </a:prstGeom>
          <a:solidFill>
            <a:srgbClr val="D4AF37">
              <a:alpha val="40000"/>
            </a:srgbClr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69164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1536192"/>
            <a:ext cx="731520" cy="7315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536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331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STEP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ヒアリング・診断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090672"/>
            <a:ext cx="18288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〜1週間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493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現状課題のヒアリング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822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業務フロー分析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151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KPI設計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480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提案書作成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169164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23360" y="1536192"/>
            <a:ext cx="731520" cy="7315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1536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37560" y="2331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STEP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導入・設定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03320" y="3090672"/>
            <a:ext cx="18288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〜2週間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3493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環境構築・設定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3822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担当者トレーニング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29000" y="4151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テスト運用開始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29000" y="4480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初期調整対応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169164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49440" y="1536192"/>
            <a:ext cx="731520" cy="7315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1536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63640" y="2331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STEP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E4B"/>
                </a:solidFill>
              </a:rPr>
              <a:t>本格稼働・成果確認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29400" y="3090672"/>
            <a:ext cx="18288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〜1ヶ月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3493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本番稼働開始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3822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定期レポート確認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5080" y="4151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改善PDCAサイクル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5080" y="4480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▸  継続サポート体制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D4AF37"/>
                </a:solidFill>
              </a:rPr>
              <a:t>PRICING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3840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シンプルで明確な料金体系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BB0"/>
                </a:solidFill>
              </a:rPr>
              <a:t>まずは気軽にご相談ください。貴社に最適なプランをご提案します。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2651760" cy="329184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7190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B2E4B"/>
                </a:solidFill>
              </a:rPr>
              <a:t>STARTER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E4B"/>
                </a:solidFill>
              </a:rPr>
              <a:t>¥XXX,XXX/月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94360" y="2907792"/>
            <a:ext cx="2103120" cy="36576"/>
          </a:xfrm>
          <a:prstGeom prst="rect">
            <a:avLst/>
          </a:prstGeom>
          <a:solidFill>
            <a:srgbClr val="CCCCCC">
              <a:alpha val="60000"/>
            </a:srgbClr>
          </a:solidFill>
          <a:ln w="12700">
            <a:solidFill>
              <a:srgbClr val="CCCCCC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175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機能①（基本）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64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機能②（基本）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7124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メールサポート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0599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ユーザーXX名まで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4074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——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600200"/>
            <a:ext cx="2651760" cy="3291840"/>
          </a:xfrm>
          <a:prstGeom prst="rect">
            <a:avLst/>
          </a:prstGeom>
          <a:solidFill>
            <a:srgbClr val="1B2E4B"/>
          </a:solidFill>
          <a:ln w="25400">
            <a:solidFill>
              <a:srgbClr val="D4AF37"/>
            </a:solidFill>
            <a:prstDash val="solid"/>
          </a:ln>
          <a:effectLst>
            <a:outerShdw sx="100000" sy="100000" kx="0" ky="0" algn="bl" rotWithShape="0" blurRad="190500" dist="635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0" y="1481328"/>
            <a:ext cx="1371600" cy="2743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人気No.1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17190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</a:rPr>
              <a:t>STANDARD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4612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¥X,XXX,XXX/月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474720" y="2907792"/>
            <a:ext cx="2103120" cy="36576"/>
          </a:xfrm>
          <a:prstGeom prst="rect">
            <a:avLst/>
          </a:prstGeom>
          <a:solidFill>
            <a:srgbClr val="D4AF37">
              <a:alpha val="60000"/>
            </a:srgbClr>
          </a:solidFill>
          <a:ln w="12700">
            <a:solidFill>
              <a:srgbClr val="D4AF37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0175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機能①（フル）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3364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機能②（フル）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37124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電話・チャットサポート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40599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ユーザー無制限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44074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専任CSM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80760" y="1600200"/>
            <a:ext cx="2651760" cy="329184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72200" y="17190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B2E4B"/>
                </a:solidFill>
              </a:rPr>
              <a:t>ENTERPRISE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2648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E4B"/>
                </a:solidFill>
              </a:rPr>
              <a:t>要相談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355080" y="2907792"/>
            <a:ext cx="2103120" cy="36576"/>
          </a:xfrm>
          <a:prstGeom prst="rect">
            <a:avLst/>
          </a:prstGeom>
          <a:solidFill>
            <a:srgbClr val="CCCCCC">
              <a:alpha val="60000"/>
            </a:srgbClr>
          </a:solidFill>
          <a:ln w="12700">
            <a:solidFill>
              <a:srgbClr val="CCCCCC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0175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カスタム機能実装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33649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SLA保証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37124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24時間サポート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40599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ユーザー無制限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44074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✓  常駐サポート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253D5E"/>
          </a:solidFill>
          <a:ln w="12700">
            <a:solidFill>
              <a:srgbClr val="253D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F37"/>
                </a:solidFill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37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D4AF37"/>
                </a:solidFill>
              </a:rPr>
              <a:t>NEXT STEP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3840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今すぐ、次の一歩を踏み出しましょう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貴社の課題解決に向けて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私たちは全力でサポートします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00400" y="2395728"/>
            <a:ext cx="27432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60604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無料相談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3566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まずは30分の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オンライン相談から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6060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デモ体験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66160" y="3566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実際の使い心地を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体感してください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6060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お見積もり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17920" y="3566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ご要望に合わせた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最適プランをご提案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D4AF37">
                <a:alpha val="50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" y="4251960"/>
            <a:ext cx="54864" cy="6858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0080" y="431596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TEL: 0X-XXXX-XXXX　　EMAIL: contact@yourcompany.co.jp　　WEB: www.yourcompany.co.jp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営業提案プレゼンテーション</dc:title>
  <dc:subject>PptxGenJS Presentation</dc:subject>
  <dc:creator>PptxGenJS</dc:creator>
  <cp:lastModifiedBy>PptxGenJS</cp:lastModifiedBy>
  <cp:revision>1</cp:revision>
  <dcterms:created xsi:type="dcterms:W3CDTF">2026-06-01T04:02:19Z</dcterms:created>
  <dcterms:modified xsi:type="dcterms:W3CDTF">2026-06-01T04:02:19Z</dcterms:modified>
</cp:coreProperties>
</file>